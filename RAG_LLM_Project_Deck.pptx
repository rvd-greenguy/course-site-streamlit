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12192000"/>
  <p:embeddedFontLst>
    <p:embeddedFont>
      <p:font typeface="Robo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obot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 flipH="1">
            <a:off x="10995300" y="5661233"/>
            <a:ext cx="1196700" cy="1196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 flipH="1">
            <a:off x="10995300" y="5661167"/>
            <a:ext cx="1196700" cy="11967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520700" y="2425700"/>
            <a:ext cx="10962900" cy="1244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20700" y="3718840"/>
            <a:ext cx="10962900" cy="57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614600" y="2753800"/>
            <a:ext cx="10962900" cy="1350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 flipH="1" rot="10800000">
            <a:off x="0" y="2247900"/>
            <a:ext cx="12192000" cy="461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0" y="2248000"/>
            <a:ext cx="12192000" cy="1449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629200" y="984967"/>
            <a:ext cx="10962900" cy="1023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629200" y="2558767"/>
            <a:ext cx="10962900" cy="361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 flipH="1" rot="10800000">
            <a:off x="0" y="2247900"/>
            <a:ext cx="12192000" cy="461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0" y="2248000"/>
            <a:ext cx="12192000" cy="1449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629200" y="984967"/>
            <a:ext cx="10962900" cy="1023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629200" y="2558767"/>
            <a:ext cx="5333100" cy="361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6259000" y="2558767"/>
            <a:ext cx="5333100" cy="361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 flipH="1" rot="10800000">
            <a:off x="0" y="875100"/>
            <a:ext cx="12192000" cy="598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0" y="875133"/>
            <a:ext cx="12192000" cy="1449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131000" y="21800"/>
            <a:ext cx="11768700" cy="80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/>
        </p:nvSpPr>
        <p:spPr>
          <a:xfrm flipH="1" rot="10800000">
            <a:off x="4368800" y="33"/>
            <a:ext cx="78231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7"/>
          <p:cNvSpPr/>
          <p:nvPr/>
        </p:nvSpPr>
        <p:spPr>
          <a:xfrm rot="-5400000">
            <a:off x="1012250" y="3356550"/>
            <a:ext cx="6858000" cy="1449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301437" y="477067"/>
            <a:ext cx="3744000" cy="1271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301433" y="1954400"/>
            <a:ext cx="3744000" cy="4218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type="title"/>
          </p:nvPr>
        </p:nvSpPr>
        <p:spPr>
          <a:xfrm>
            <a:off x="653667" y="651000"/>
            <a:ext cx="83028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/>
          <p:nvPr/>
        </p:nvSpPr>
        <p:spPr>
          <a:xfrm flipH="1">
            <a:off x="0" y="0"/>
            <a:ext cx="6096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9"/>
          <p:cNvSpPr/>
          <p:nvPr/>
        </p:nvSpPr>
        <p:spPr>
          <a:xfrm rot="5400000">
            <a:off x="2595233" y="3356900"/>
            <a:ext cx="6857100" cy="1449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" type="subTitle"/>
          </p:nvPr>
        </p:nvSpPr>
        <p:spPr>
          <a:xfrm>
            <a:off x="354000" y="3705956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4" name="Google Shape;54;p9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/>
        </p:nvSpPr>
        <p:spPr>
          <a:xfrm flipH="1" rot="10800000">
            <a:off x="0" y="-100"/>
            <a:ext cx="12192000" cy="6261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0"/>
          <p:cNvSpPr/>
          <p:nvPr/>
        </p:nvSpPr>
        <p:spPr>
          <a:xfrm flipH="1" rot="10800000">
            <a:off x="0" y="6163733"/>
            <a:ext cx="12192000" cy="987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0"/>
          <p:cNvSpPr txBox="1"/>
          <p:nvPr>
            <p:ph idx="1" type="body"/>
          </p:nvPr>
        </p:nvSpPr>
        <p:spPr>
          <a:xfrm>
            <a:off x="76200" y="6262433"/>
            <a:ext cx="11175900" cy="595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634000" y="1678033"/>
            <a:ext cx="109629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634000" y="4406167"/>
            <a:ext cx="109629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9200" y="984967"/>
            <a:ext cx="109629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9200" y="2558767"/>
            <a:ext cx="10962900" cy="3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Roboto"/>
              <a:buChar char="●"/>
              <a:defRPr sz="2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○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■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●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○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■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●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○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■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/>
          <p:nvPr/>
        </p:nvSpPr>
        <p:spPr>
          <a:xfrm>
            <a:off x="0" y="0"/>
            <a:ext cx="12191695" cy="68580"/>
          </a:xfrm>
          <a:prstGeom prst="roundRect">
            <a:avLst>
              <a:gd fmla="val 173333" name="adj"/>
            </a:avLst>
          </a:prstGeom>
          <a:solidFill>
            <a:srgbClr val="23D2CE"/>
          </a:solidFill>
          <a:ln cap="flat" cmpd="sng" w="12700">
            <a:solidFill>
              <a:srgbClr val="23D2C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640080" y="320040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D2CE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3D2CE"/>
                </a:solidFill>
              </a:rPr>
              <a:t>Group 07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640080" y="749808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course notebooks to an interactive AI learning platform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640080" y="1353312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0D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CB0D1"/>
                </a:solidFill>
                <a:latin typeface="Arial"/>
                <a:ea typeface="Arial"/>
                <a:cs typeface="Arial"/>
                <a:sym typeface="Arial"/>
              </a:rPr>
              <a:t>A deployable Streamlit companion for enterprise Generative AI learning.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640080" y="6510528"/>
            <a:ext cx="10881360" cy="10973"/>
          </a:xfrm>
          <a:prstGeom prst="roundRect">
            <a:avLst>
              <a:gd fmla="val 1083314" name="adj"/>
            </a:avLst>
          </a:prstGeom>
          <a:solidFill>
            <a:srgbClr val="2D4264"/>
          </a:solidFill>
          <a:ln cap="flat" cmpd="sng" w="12700">
            <a:solidFill>
              <a:srgbClr val="2D426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640080" y="6574536"/>
            <a:ext cx="7315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0D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CB0D1"/>
                </a:solidFill>
                <a:latin typeface="Arial"/>
                <a:ea typeface="Arial"/>
                <a:cs typeface="Arial"/>
                <a:sym typeface="Arial"/>
              </a:rPr>
              <a:t>NUS-ISS  •  GROUP 7  •  CAPSTONE PROJECT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11109960" y="6547104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3D2C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3D2C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640080" y="1965960"/>
            <a:ext cx="7040880" cy="3566160"/>
          </a:xfrm>
          <a:prstGeom prst="roundRect">
            <a:avLst>
              <a:gd fmla="val 3333" name="adj"/>
            </a:avLst>
          </a:prstGeom>
          <a:solidFill>
            <a:srgbClr val="182A4B"/>
          </a:solidFill>
          <a:ln cap="flat" cmpd="sng" w="12700">
            <a:solidFill>
              <a:srgbClr val="182A4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987552" y="2322576"/>
            <a:ext cx="63093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CUSTOM GENERATIVE AI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SYSTEMS FOR ENTERPRISES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996696" y="4023360"/>
            <a:ext cx="6080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D2CE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3D2CE"/>
                </a:solidFill>
                <a:latin typeface="Arial"/>
                <a:ea typeface="Arial"/>
                <a:cs typeface="Arial"/>
                <a:sym typeface="Arial"/>
              </a:rPr>
              <a:t>Learn  •  Experiment  •  Ask  •  Apply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1005840" y="4791456"/>
            <a:ext cx="60899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0D1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CB0D1"/>
                </a:solidFill>
                <a:latin typeface="Arial"/>
                <a:ea typeface="Arial"/>
                <a:cs typeface="Arial"/>
                <a:sym typeface="Arial"/>
              </a:rPr>
              <a:t>An end-to-end capstone product, not a static notebook submission.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7918704" y="1965960"/>
            <a:ext cx="3584448" cy="1051560"/>
          </a:xfrm>
          <a:prstGeom prst="roundRect">
            <a:avLst>
              <a:gd fmla="val 11304" name="adj"/>
            </a:avLst>
          </a:prstGeom>
          <a:solidFill>
            <a:srgbClr val="182A4B"/>
          </a:solidFill>
          <a:ln cap="flat" cmpd="sng" w="12700">
            <a:solidFill>
              <a:srgbClr val="182A4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7918704" y="1965960"/>
            <a:ext cx="50292" cy="1051560"/>
          </a:xfrm>
          <a:prstGeom prst="roundRect">
            <a:avLst>
              <a:gd fmla="val 236364" name="adj"/>
            </a:avLst>
          </a:prstGeom>
          <a:solidFill>
            <a:srgbClr val="23D2CE"/>
          </a:solidFill>
          <a:ln cap="flat" cmpd="sng" w="12700">
            <a:solidFill>
              <a:srgbClr val="23D2C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8156448" y="2148840"/>
            <a:ext cx="3145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8156448" y="2670048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0D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CB0D1"/>
                </a:solidFill>
                <a:latin typeface="Arial"/>
                <a:ea typeface="Arial"/>
                <a:cs typeface="Arial"/>
                <a:sym typeface="Arial"/>
              </a:rPr>
              <a:t>Workshop days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7918704" y="3172968"/>
            <a:ext cx="3584448" cy="1051560"/>
          </a:xfrm>
          <a:prstGeom prst="roundRect">
            <a:avLst>
              <a:gd fmla="val 11304" name="adj"/>
            </a:avLst>
          </a:prstGeom>
          <a:solidFill>
            <a:srgbClr val="182A4B"/>
          </a:solidFill>
          <a:ln cap="flat" cmpd="sng" w="12700">
            <a:solidFill>
              <a:srgbClr val="182A4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7918704" y="3172968"/>
            <a:ext cx="50292" cy="1051560"/>
          </a:xfrm>
          <a:prstGeom prst="roundRect">
            <a:avLst>
              <a:gd fmla="val 236364" name="adj"/>
            </a:avLst>
          </a:prstGeom>
          <a:solidFill>
            <a:srgbClr val="4E8AF7"/>
          </a:solidFill>
          <a:ln cap="flat" cmpd="sng" w="12700">
            <a:solidFill>
              <a:srgbClr val="4E8A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8156448" y="3355848"/>
            <a:ext cx="3145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search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8156448" y="387705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0D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CB0D1"/>
                </a:solidFill>
                <a:latin typeface="Arial"/>
                <a:ea typeface="Arial"/>
                <a:cs typeface="Arial"/>
                <a:sym typeface="Arial"/>
              </a:rPr>
              <a:t>LLM + retrieval + guardrails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7918704" y="4379976"/>
            <a:ext cx="3584448" cy="1143000"/>
          </a:xfrm>
          <a:prstGeom prst="roundRect">
            <a:avLst>
              <a:gd fmla="val 10400" name="adj"/>
            </a:avLst>
          </a:prstGeom>
          <a:solidFill>
            <a:srgbClr val="182A4B"/>
          </a:solidFill>
          <a:ln cap="flat" cmpd="sng" w="12700">
            <a:solidFill>
              <a:srgbClr val="182A4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7918704" y="4379976"/>
            <a:ext cx="50292" cy="1143000"/>
          </a:xfrm>
          <a:prstGeom prst="roundRect">
            <a:avLst>
              <a:gd fmla="val 236364" name="adj"/>
            </a:avLst>
          </a:prstGeom>
          <a:solidFill>
            <a:srgbClr val="6CE6A1"/>
          </a:solidFill>
          <a:ln cap="flat" cmpd="sng" w="12700">
            <a:solidFill>
              <a:srgbClr val="6CE6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8156448" y="4562856"/>
            <a:ext cx="3145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Access control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8156448" y="508406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0D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CB0D1"/>
                </a:solidFill>
                <a:latin typeface="Arial"/>
                <a:ea typeface="Arial"/>
                <a:cs typeface="Arial"/>
                <a:sym typeface="Arial"/>
              </a:rPr>
              <a:t>User registration + admin approval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685800" y="598932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0D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CB0D1"/>
                </a:solidFill>
                <a:latin typeface="Arial"/>
                <a:ea typeface="Arial"/>
                <a:cs typeface="Arial"/>
                <a:sym typeface="Arial"/>
              </a:rPr>
              <a:t>Goh Kok Boon   •   Ravikkumar Vignesh Kumar   •   Yap Wen Lai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0" y="0"/>
            <a:ext cx="12191695" cy="68580"/>
          </a:xfrm>
          <a:prstGeom prst="roundRect">
            <a:avLst>
              <a:gd fmla="val 173333" name="adj"/>
            </a:avLst>
          </a:prstGeom>
          <a:solidFill>
            <a:srgbClr val="23D2CE"/>
          </a:solidFill>
          <a:ln cap="flat" cmpd="sng" w="12700">
            <a:solidFill>
              <a:srgbClr val="23D2C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640080" y="320040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D2C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3D2CE"/>
                </a:solidFill>
                <a:latin typeface="Arial"/>
                <a:ea typeface="Arial"/>
                <a:cs typeface="Arial"/>
                <a:sym typeface="Arial"/>
              </a:rPr>
              <a:t>PROBLEM → SOLUTION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640080" y="749808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FFFFFF"/>
                </a:solidFill>
              </a:rPr>
              <a:t>From p</a:t>
            </a: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assive learning into hands-on exploration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640080" y="1353312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0D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CB0D1"/>
                </a:solidFill>
                <a:latin typeface="Arial"/>
                <a:ea typeface="Arial"/>
                <a:cs typeface="Arial"/>
                <a:sym typeface="Arial"/>
              </a:rPr>
              <a:t>Challenge: important GenAI concepts are spread across notebooks, examples and tools.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640080" y="6510528"/>
            <a:ext cx="10881360" cy="10973"/>
          </a:xfrm>
          <a:prstGeom prst="roundRect">
            <a:avLst>
              <a:gd fmla="val 1083314" name="adj"/>
            </a:avLst>
          </a:prstGeom>
          <a:solidFill>
            <a:srgbClr val="2D4264"/>
          </a:solidFill>
          <a:ln cap="flat" cmpd="sng" w="12700">
            <a:solidFill>
              <a:srgbClr val="2D426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640080" y="6574536"/>
            <a:ext cx="7315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0D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CB0D1"/>
                </a:solidFill>
                <a:latin typeface="Arial"/>
                <a:ea typeface="Arial"/>
                <a:cs typeface="Arial"/>
                <a:sym typeface="Arial"/>
              </a:rPr>
              <a:t>NUS-ISS  •  GROUP 7  •  CAPSTONE PROJECT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11109960" y="6547104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3D2C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3D2C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640080" y="2011680"/>
            <a:ext cx="3438144" cy="3200400"/>
          </a:xfrm>
          <a:prstGeom prst="roundRect">
            <a:avLst>
              <a:gd fmla="val 3714" name="adj"/>
            </a:avLst>
          </a:prstGeom>
          <a:solidFill>
            <a:srgbClr val="182A4B"/>
          </a:solidFill>
          <a:ln cap="flat" cmpd="sng" w="12700">
            <a:solidFill>
              <a:srgbClr val="182A4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640080" y="2011680"/>
            <a:ext cx="50292" cy="3200400"/>
          </a:xfrm>
          <a:prstGeom prst="roundRect">
            <a:avLst>
              <a:gd fmla="val 236364" name="adj"/>
            </a:avLst>
          </a:prstGeom>
          <a:solidFill>
            <a:srgbClr val="23D2CE"/>
          </a:solidFill>
          <a:ln cap="flat" cmpd="sng" w="12700">
            <a:solidFill>
              <a:srgbClr val="23D2C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877824" y="2194560"/>
            <a:ext cx="29992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  DISCOVER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877824" y="2715768"/>
            <a:ext cx="2962656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0D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CB0D1"/>
                </a:solidFill>
                <a:latin typeface="Arial"/>
                <a:ea typeface="Arial"/>
                <a:cs typeface="Arial"/>
                <a:sym typeface="Arial"/>
              </a:rPr>
              <a:t>Organise four days of enterprise GenAI content into one consistent, searchable interface.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4379976" y="2011680"/>
            <a:ext cx="3438144" cy="3200400"/>
          </a:xfrm>
          <a:prstGeom prst="roundRect">
            <a:avLst>
              <a:gd fmla="val 3714" name="adj"/>
            </a:avLst>
          </a:prstGeom>
          <a:solidFill>
            <a:srgbClr val="182A4B"/>
          </a:solidFill>
          <a:ln cap="flat" cmpd="sng" w="12700">
            <a:solidFill>
              <a:srgbClr val="182A4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4379976" y="2011680"/>
            <a:ext cx="50292" cy="3200400"/>
          </a:xfrm>
          <a:prstGeom prst="roundRect">
            <a:avLst>
              <a:gd fmla="val 236364" name="adj"/>
            </a:avLst>
          </a:prstGeom>
          <a:solidFill>
            <a:srgbClr val="4E8AF7"/>
          </a:solidFill>
          <a:ln cap="flat" cmpd="sng" w="12700">
            <a:solidFill>
              <a:srgbClr val="4E8A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4617720" y="2194560"/>
            <a:ext cx="29992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  EXPERIMENT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4617720" y="2715768"/>
            <a:ext cx="2962656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0D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CB0D1"/>
                </a:solidFill>
                <a:latin typeface="Arial"/>
                <a:ea typeface="Arial"/>
                <a:cs typeface="Arial"/>
                <a:sym typeface="Arial"/>
              </a:rPr>
              <a:t>Replace passive reading with interactive simulations that reveal how techniques work.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8119872" y="2011680"/>
            <a:ext cx="3429000" cy="3200400"/>
          </a:xfrm>
          <a:prstGeom prst="roundRect">
            <a:avLst>
              <a:gd fmla="val 3714" name="adj"/>
            </a:avLst>
          </a:prstGeom>
          <a:solidFill>
            <a:srgbClr val="182A4B"/>
          </a:solidFill>
          <a:ln cap="flat" cmpd="sng" w="12700">
            <a:solidFill>
              <a:srgbClr val="182A4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8119872" y="2011680"/>
            <a:ext cx="50292" cy="3200400"/>
          </a:xfrm>
          <a:prstGeom prst="roundRect">
            <a:avLst>
              <a:gd fmla="val 236364" name="adj"/>
            </a:avLst>
          </a:prstGeom>
          <a:solidFill>
            <a:srgbClr val="6CE6A1"/>
          </a:solidFill>
          <a:ln cap="flat" cmpd="sng" w="12700">
            <a:solidFill>
              <a:srgbClr val="6CE6A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8357616" y="2194560"/>
            <a:ext cx="29900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  GET GUIDANCE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8357616" y="2715768"/>
            <a:ext cx="2953512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0D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CB0D1"/>
                </a:solidFill>
                <a:latin typeface="Arial"/>
                <a:ea typeface="Arial"/>
                <a:cs typeface="Arial"/>
                <a:sym typeface="Arial"/>
              </a:rPr>
              <a:t>Ask an AI assistant grounded in course content, with configurable topic and web-search boundaries.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1353312" y="5559552"/>
            <a:ext cx="9464040" cy="484632"/>
          </a:xfrm>
          <a:prstGeom prst="roundRect">
            <a:avLst>
              <a:gd fmla="val 24528" name="adj"/>
            </a:avLst>
          </a:prstGeom>
          <a:solidFill>
            <a:srgbClr val="101F40"/>
          </a:solidFill>
          <a:ln cap="flat" cmpd="sng" w="12700">
            <a:solidFill>
              <a:srgbClr val="101F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1609344" y="5641848"/>
            <a:ext cx="8961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VALUE PROPOSITION     One site that connects concepts, practice and AI-assisted discovery.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/>
          <p:nvPr/>
        </p:nvSpPr>
        <p:spPr>
          <a:xfrm>
            <a:off x="0" y="0"/>
            <a:ext cx="12191695" cy="68580"/>
          </a:xfrm>
          <a:prstGeom prst="roundRect">
            <a:avLst>
              <a:gd fmla="val 173333" name="adj"/>
            </a:avLst>
          </a:prstGeom>
          <a:solidFill>
            <a:srgbClr val="23D2CE"/>
          </a:solidFill>
          <a:ln cap="flat" cmpd="sng" w="12700">
            <a:solidFill>
              <a:srgbClr val="23D2C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640080" y="320040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D2C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3D2CE"/>
                </a:solidFill>
                <a:latin typeface="Arial"/>
                <a:ea typeface="Arial"/>
                <a:cs typeface="Arial"/>
                <a:sym typeface="Arial"/>
              </a:rPr>
              <a:t>SOLUTION ARCHITECTURE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640080" y="749808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Retrieval, LLM assistance and safety by design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640080" y="1353312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0D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CB0D1"/>
                </a:solidFill>
                <a:latin typeface="Arial"/>
                <a:ea typeface="Arial"/>
                <a:cs typeface="Arial"/>
                <a:sym typeface="Arial"/>
              </a:rPr>
              <a:t>A single Streamlit application with modular services and lightweight deployment.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640080" y="6510528"/>
            <a:ext cx="10881360" cy="10973"/>
          </a:xfrm>
          <a:prstGeom prst="roundRect">
            <a:avLst>
              <a:gd fmla="val 1083314" name="adj"/>
            </a:avLst>
          </a:prstGeom>
          <a:solidFill>
            <a:srgbClr val="2D4264"/>
          </a:solidFill>
          <a:ln cap="flat" cmpd="sng" w="12700">
            <a:solidFill>
              <a:srgbClr val="2D426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640080" y="6574536"/>
            <a:ext cx="7315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0D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CB0D1"/>
                </a:solidFill>
                <a:latin typeface="Arial"/>
                <a:ea typeface="Arial"/>
                <a:cs typeface="Arial"/>
                <a:sym typeface="Arial"/>
              </a:rPr>
              <a:t>NUS-ISS  •  GROUP 7  •  CAPSTONE PROJECT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11109960" y="6547104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3D2C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3D2C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640080" y="2560320"/>
            <a:ext cx="1920240" cy="1444752"/>
          </a:xfrm>
          <a:prstGeom prst="roundRect">
            <a:avLst>
              <a:gd fmla="val 8228" name="adj"/>
            </a:avLst>
          </a:prstGeom>
          <a:solidFill>
            <a:srgbClr val="182A4B"/>
          </a:solidFill>
          <a:ln cap="flat" cmpd="sng" w="12700">
            <a:solidFill>
              <a:srgbClr val="182A4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731520" y="2779776"/>
            <a:ext cx="17373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D2C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3D2CE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740664" y="3310128"/>
            <a:ext cx="171907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Login + course UI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2601468" y="2971800"/>
            <a:ext cx="2834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D2C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3D2C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2944368" y="2560320"/>
            <a:ext cx="2075688" cy="1444752"/>
          </a:xfrm>
          <a:prstGeom prst="roundRect">
            <a:avLst>
              <a:gd fmla="val 8228" name="adj"/>
            </a:avLst>
          </a:prstGeom>
          <a:solidFill>
            <a:srgbClr val="182A4B"/>
          </a:solidFill>
          <a:ln cap="flat" cmpd="sng" w="12700">
            <a:solidFill>
              <a:srgbClr val="182A4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3035808" y="2779776"/>
            <a:ext cx="189280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E6A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CE6A1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3044952" y="3310128"/>
            <a:ext cx="187452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Safety + topic scope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61204" y="2971800"/>
            <a:ext cx="2834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D2C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3D2C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404104" y="2560320"/>
            <a:ext cx="2029968" cy="1444752"/>
          </a:xfrm>
          <a:prstGeom prst="roundRect">
            <a:avLst>
              <a:gd fmla="val 8228" name="adj"/>
            </a:avLst>
          </a:prstGeom>
          <a:solidFill>
            <a:srgbClr val="182A4B"/>
          </a:solidFill>
          <a:ln cap="flat" cmpd="sng" w="12700">
            <a:solidFill>
              <a:srgbClr val="182A4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5495544" y="2779776"/>
            <a:ext cx="184708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D2C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3D2CE"/>
                </a:solidFill>
                <a:latin typeface="Arial"/>
                <a:ea typeface="Arial"/>
                <a:cs typeface="Arial"/>
                <a:sym typeface="Arial"/>
              </a:rPr>
              <a:t>RETRIEVAL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504688" y="3310128"/>
            <a:ext cx="18288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Course page index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7475220" y="2971800"/>
            <a:ext cx="2834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D2C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3D2C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7818120" y="2560320"/>
            <a:ext cx="2057400" cy="1444752"/>
          </a:xfrm>
          <a:prstGeom prst="roundRect">
            <a:avLst>
              <a:gd fmla="val 8228" name="adj"/>
            </a:avLst>
          </a:prstGeom>
          <a:solidFill>
            <a:srgbClr val="182A4B"/>
          </a:solidFill>
          <a:ln cap="flat" cmpd="sng" w="12700">
            <a:solidFill>
              <a:srgbClr val="182A4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7909560" y="2779776"/>
            <a:ext cx="187452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D2C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3D2CE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7918704" y="3310128"/>
            <a:ext cx="185623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Groq-hosted models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9916668" y="2971800"/>
            <a:ext cx="2834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D2C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3D2C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10241280" y="2560320"/>
            <a:ext cx="1307592" cy="1444752"/>
          </a:xfrm>
          <a:prstGeom prst="roundRect">
            <a:avLst>
              <a:gd fmla="val 9091" name="adj"/>
            </a:avLst>
          </a:prstGeom>
          <a:solidFill>
            <a:srgbClr val="182A4B"/>
          </a:solidFill>
          <a:ln cap="flat" cmpd="sng" w="12700">
            <a:solidFill>
              <a:srgbClr val="182A4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10332720" y="2779776"/>
            <a:ext cx="112471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D2C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3D2CE"/>
                </a:solidFill>
                <a:latin typeface="Arial"/>
                <a:ea typeface="Arial"/>
                <a:cs typeface="Arial"/>
                <a:sym typeface="Arial"/>
              </a:rPr>
              <a:t>ANSWER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10341864" y="3310128"/>
            <a:ext cx="1106424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Grounded reply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640080" y="4608576"/>
            <a:ext cx="5230368" cy="1060704"/>
          </a:xfrm>
          <a:prstGeom prst="roundRect">
            <a:avLst>
              <a:gd fmla="val 11207" name="adj"/>
            </a:avLst>
          </a:prstGeom>
          <a:solidFill>
            <a:srgbClr val="101F40"/>
          </a:solidFill>
          <a:ln cap="flat" cmpd="sng" w="12700">
            <a:solidFill>
              <a:srgbClr val="101F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877824" y="4800600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OPTIONAL WEB RETRIEVAL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877824" y="5221224"/>
            <a:ext cx="4526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0D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CB0D1"/>
                </a:solidFill>
                <a:latin typeface="Arial"/>
                <a:ea typeface="Arial"/>
                <a:cs typeface="Arial"/>
                <a:sym typeface="Arial"/>
              </a:rPr>
              <a:t>DDGS / Google search when mode permits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6080760" y="4608576"/>
            <a:ext cx="5468112" cy="1060704"/>
          </a:xfrm>
          <a:prstGeom prst="roundRect">
            <a:avLst>
              <a:gd fmla="val 11207" name="adj"/>
            </a:avLst>
          </a:prstGeom>
          <a:solidFill>
            <a:srgbClr val="101F40"/>
          </a:solidFill>
          <a:ln cap="flat" cmpd="sng" w="12700">
            <a:solidFill>
              <a:srgbClr val="101F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6327648" y="4800600"/>
            <a:ext cx="4892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 + DEPLOYMENT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327648" y="5221224"/>
            <a:ext cx="4892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0D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CB0D1"/>
                </a:solidFill>
                <a:latin typeface="Arial"/>
                <a:ea typeface="Arial"/>
                <a:cs typeface="Arial"/>
                <a:sym typeface="Arial"/>
              </a:rPr>
              <a:t>SQLite  •  PBKDF2 password hashing  •  Docker :8501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841248" y="6007608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0D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B0D1"/>
                </a:solidFill>
                <a:latin typeface="Arial"/>
                <a:ea typeface="Arial"/>
                <a:cs typeface="Arial"/>
                <a:sym typeface="Arial"/>
              </a:rPr>
              <a:t>Four access modes: Within course  /  DDGS search  /  Google search  /  Full access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